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81328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81328"/>
            <a:ext cx="12188952" cy="457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INVESTERING CASE  ·  6 BANEN  · 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Indoor Padelcentrum Noordwijk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3385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Van Berckelweg (tegenover nr. 54), 2203 LB Noordwijk  ·  Eigen grond + exploitatie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77272" y="228600"/>
            <a:ext cx="1737360" cy="347472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VERTROUWELIJK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527048"/>
            <a:ext cx="12188952" cy="658368"/>
          </a:xfrm>
          <a:prstGeom prst="rect">
            <a:avLst/>
          </a:prstGeom>
          <a:solidFill>
            <a:srgbClr val="E8F5EE"/>
          </a:solidFill>
          <a:ln w="63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" y="1581912"/>
            <a:ext cx="290093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A4A"/>
                </a:solidFill>
                <a:latin typeface="Calibri"/>
              </a:rPr>
              <a:t>876.000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" y="1920240"/>
            <a:ext cx="290093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Padelspelers NL (2025)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7238" y="1600200"/>
            <a:ext cx="12700" cy="51206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0390" y="1581912"/>
            <a:ext cx="290093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A4A"/>
                </a:solidFill>
                <a:latin typeface="Calibri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0390" y="1920240"/>
            <a:ext cx="290093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Gem. bezetting indoor NL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4476" y="1600200"/>
            <a:ext cx="12700" cy="51206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7628" y="1581912"/>
            <a:ext cx="290093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A4A"/>
                </a:solidFill>
                <a:latin typeface="Calibri"/>
              </a:rPr>
              <a:t>~185.000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7628" y="1920240"/>
            <a:ext cx="290093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Inwoners catchment area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1714" y="1600200"/>
            <a:ext cx="12700" cy="51206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4866" y="1581912"/>
            <a:ext cx="290093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A4A"/>
                </a:solidFill>
                <a:latin typeface="Calibri"/>
              </a:rPr>
              <a:t>1 : 15.400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4866" y="1920240"/>
            <a:ext cx="290093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Indoor baan per inwoner (regio)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2185416"/>
            <a:ext cx="12188952" cy="4398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0" y="2295144"/>
            <a:ext cx="12700" cy="428853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377440"/>
            <a:ext cx="82296" cy="109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32257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4A"/>
                </a:solidFill>
                <a:latin typeface="Calibri"/>
              </a:rPr>
              <a:t>KERNTHESE – INVESTMENT RATIONALE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651760"/>
            <a:ext cx="256032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2596896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Structureel tekort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Padel vraag overtreft aanbod fors in de regio — Vinkenveld (4 indoor banen in Noordwijk) kent wachttijden; Terwegen (Sassenheim) is 15–20 min rijden.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291840"/>
            <a:ext cx="256032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236976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Witte plek in de markt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34564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Noordwijk + Katwijk (113.000 inwoners) beschikken over slechts 4 indoor banen — 1 per 28.000 inwoners vs. NL-gemiddelde van 1 per 6.370.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931920"/>
            <a:ext cx="256032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3877056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Sterk financieel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40965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Bij 60% bezetting: omzet ~€809K, EBITDA ~€480K, terugverdientijd 3–4 jaar. Investering €1,4M–€2,1M (all-in, eigen grond inbegrepen).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572000"/>
            <a:ext cx="256032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4517136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Dubbel rendement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473659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Eigen grond (~€300K) genereert niet alleen cashflow maar ook vermogenswaarde — ongebruikelijk voordeel t.o.v. huurmodellen.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212080"/>
            <a:ext cx="256032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5157216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864"/>
                </a:solidFill>
                <a:latin typeface="Calibri"/>
              </a:rPr>
              <a:t>First-mover voordeel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" y="53766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Geen andere full-size indoor padelhal in Noordwijk. Community lock-in en vaste bedrijfsslots zijn moeilijk te kopiëren.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2377440"/>
            <a:ext cx="82296" cy="109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43216" y="232257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4A"/>
                </a:solidFill>
                <a:latin typeface="Calibri"/>
              </a:rPr>
              <a:t>CONCEPT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2596896"/>
            <a:ext cx="4572000" cy="196596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2360" y="2706624"/>
            <a:ext cx="4297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DE80"/>
                </a:solidFill>
                <a:latin typeface="Calibri"/>
              </a:rPr>
              <a:t>INDOOR PADELCENTRUM – 6 BANEN, EIGEN GROND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2980944"/>
            <a:ext cx="4297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Hal van ~2.000–2.500 m² op eigen grond (€300K). Zes moderne indoor padelbanen. Vaste prijs €30/uur — toegankelijk en transparant.
Horeca, shop en events verhogen omzet per bezoeker. Community-first aanpak: leagues, clinics en bedrijfsabonnementen voor stabiele basisbezetting vanaf dag 1.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4709160"/>
            <a:ext cx="82296" cy="109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3216" y="4654296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4A"/>
                </a:solidFill>
                <a:latin typeface="Calibri"/>
              </a:rPr>
              <a:t>AANBEVELING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4928616"/>
            <a:ext cx="4572000" cy="9144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52360" y="5038344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Ga verder met grondaankoop en ontwikkeling. Model 1 (eigen grond + exploitatie) genereert de hoogste langetermijnwaarde. Pre-consultatie Gemeente Noordwijk direct starten.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VERTROUWELIJK  ·  Indoor Padelcentrum Noordwijk  ·  Investering Case April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08792" y="660196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7280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Marktanalyse: Vraag Overtreft Aanbod — Structurele Kans in Kustgemeenten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3504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Padel is geen hype meer — EY/KNLTB 2026: gevestigde indoor centra realiseren gemiddeld 60% bezetting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658368"/>
          </a:xfrm>
          <a:prstGeom prst="rect">
            <a:avLst/>
          </a:prstGeom>
          <a:solidFill>
            <a:srgbClr val="E8F5EE"/>
          </a:solidFill>
          <a:ln w="63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" y="1060704"/>
            <a:ext cx="290093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A4A"/>
                </a:solidFill>
                <a:latin typeface="Calibri"/>
              </a:rPr>
              <a:t>876.000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" y="1399032"/>
            <a:ext cx="290093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Padelspelers NL (2025)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7238" y="1078992"/>
            <a:ext cx="12700" cy="51206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0390" y="1060704"/>
            <a:ext cx="290093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A4A"/>
                </a:solidFill>
                <a:latin typeface="Calibri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0390" y="1399032"/>
            <a:ext cx="290093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Gem. bezetting indoor NL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4476" y="1078992"/>
            <a:ext cx="12700" cy="51206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7628" y="1060704"/>
            <a:ext cx="290093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A4A"/>
                </a:solidFill>
                <a:latin typeface="Calibri"/>
              </a:rPr>
              <a:t>~185.000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7628" y="1399032"/>
            <a:ext cx="290093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Inwoners catchment area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1714" y="1078992"/>
            <a:ext cx="12700" cy="51206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4866" y="1060704"/>
            <a:ext cx="290093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7A4A"/>
                </a:solidFill>
                <a:latin typeface="Calibri"/>
              </a:rPr>
              <a:t>1 : 15.400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4866" y="1399032"/>
            <a:ext cx="290093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Indoor baan per inwoner (regio)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1664208"/>
            <a:ext cx="12188952" cy="4919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773936"/>
            <a:ext cx="12700" cy="48097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1883664"/>
            <a:ext cx="82296" cy="109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182880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4A"/>
                </a:solidFill>
                <a:latin typeface="Calibri"/>
              </a:rPr>
              <a:t>CATCHMENT AREA – INWONERS (15 KM RADIUS)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084832"/>
            <a:ext cx="1325880" cy="868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2157984"/>
            <a:ext cx="11795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923"/>
                </a:solidFill>
                <a:latin typeface="Calibri"/>
              </a:rPr>
              <a:t>46.500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54203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Gemeente
Noordwijk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2084832"/>
            <a:ext cx="1325880" cy="868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01952" y="2157984"/>
            <a:ext cx="11795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923"/>
                </a:solidFill>
                <a:latin typeface="Calibri"/>
              </a:rPr>
              <a:t>67.200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20" y="254203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Gemeente
Katwijk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2084832"/>
            <a:ext cx="1325880" cy="868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9272" y="2157984"/>
            <a:ext cx="11795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1923"/>
                </a:solidFill>
                <a:latin typeface="Calibri"/>
              </a:rPr>
              <a:t>~35.000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54203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  <a:latin typeface="Calibri"/>
              </a:rPr>
              <a:t>Teylingen (Lisse,
Sassenheim, Voorhout)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2084832"/>
            <a:ext cx="1325880" cy="868680"/>
          </a:xfrm>
          <a:prstGeom prst="rect">
            <a:avLst/>
          </a:prstGeom>
          <a:solidFill>
            <a:srgbClr val="1F3864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36592" y="2157984"/>
            <a:ext cx="11795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~185.000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254203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Calibri"/>
              </a:rPr>
              <a:t>Totaal
catchment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191256"/>
            <a:ext cx="82296" cy="109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13639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4A"/>
                </a:solidFill>
                <a:latin typeface="Calibri"/>
              </a:rPr>
              <a:t>DE KANS – WAAROM NOORDWIJK, WAAROM NU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" y="3392424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A7A4A"/>
                </a:solidFill>
                <a:latin typeface="Calibri"/>
              </a:rPr>
              <a:t>→  </a:t>
            </a:r>
            <a:r>
              <a:rPr sz="900" b="1">
                <a:solidFill>
                  <a:srgbClr val="0F1923"/>
                </a:solidFill>
                <a:latin typeface="Calibri"/>
              </a:rPr>
              <a:t>Geen eigen indoor centrum</a:t>
            </a:r>
            <a:r>
              <a:rPr sz="900" b="0">
                <a:solidFill>
                  <a:srgbClr val="374151"/>
                </a:solidFill>
                <a:latin typeface="Calibri"/>
              </a:rPr>
              <a:t> voor 113K kustinwoners (Noordwijk + Katwijk)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" y="3639312"/>
            <a:ext cx="566928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" y="3675888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A7A4A"/>
                </a:solidFill>
                <a:latin typeface="Calibri"/>
              </a:rPr>
              <a:t>→  </a:t>
            </a:r>
            <a:r>
              <a:rPr sz="900" b="1">
                <a:solidFill>
                  <a:srgbClr val="0F1923"/>
                </a:solidFill>
                <a:latin typeface="Calibri"/>
              </a:rPr>
              <a:t>Vinkenveld zit vol</a:t>
            </a:r>
            <a:r>
              <a:rPr sz="900" b="0">
                <a:solidFill>
                  <a:srgbClr val="374151"/>
                </a:solidFill>
                <a:latin typeface="Calibri"/>
              </a:rPr>
              <a:t> — wachttijden bewijzen onvervulde lokale vraag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" y="3922776"/>
            <a:ext cx="566928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7784" y="3959352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A7A4A"/>
                </a:solidFill>
                <a:latin typeface="Calibri"/>
              </a:rPr>
              <a:t>→  </a:t>
            </a:r>
            <a:r>
              <a:rPr sz="900" b="1">
                <a:solidFill>
                  <a:srgbClr val="0F1923"/>
                </a:solidFill>
                <a:latin typeface="Calibri"/>
              </a:rPr>
              <a:t>Terwegen is 15–20 min rijden</a:t>
            </a:r>
            <a:r>
              <a:rPr sz="900" b="0">
                <a:solidFill>
                  <a:srgbClr val="374151"/>
                </a:solidFill>
                <a:latin typeface="Calibri"/>
              </a:rPr>
              <a:t> — genoeg afstand voor first-mover voordeel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" y="4206240"/>
            <a:ext cx="566928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" y="4242816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A7A4A"/>
                </a:solidFill>
                <a:latin typeface="Calibri"/>
              </a:rPr>
              <a:t>→  </a:t>
            </a:r>
            <a:r>
              <a:rPr sz="900" b="1">
                <a:solidFill>
                  <a:srgbClr val="0F1923"/>
                </a:solidFill>
                <a:latin typeface="Calibri"/>
              </a:rPr>
              <a:t>Hoog gemiddeld inkomen</a:t>
            </a:r>
            <a:r>
              <a:rPr sz="900" b="0">
                <a:solidFill>
                  <a:srgbClr val="374151"/>
                </a:solidFill>
                <a:latin typeface="Calibri"/>
              </a:rPr>
              <a:t> in regio — hogere spend en hogere loyaliteit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" y="4489704"/>
            <a:ext cx="566928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" y="4526280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A7A4A"/>
                </a:solidFill>
                <a:latin typeface="Calibri"/>
              </a:rPr>
              <a:t>→  </a:t>
            </a:r>
            <a:r>
              <a:rPr sz="900" b="1">
                <a:solidFill>
                  <a:srgbClr val="0F1923"/>
                </a:solidFill>
                <a:latin typeface="Calibri"/>
              </a:rPr>
              <a:t>Demografisch ideaal</a:t>
            </a:r>
            <a:r>
              <a:rPr sz="900" b="0">
                <a:solidFill>
                  <a:srgbClr val="374151"/>
                </a:solidFill>
                <a:latin typeface="Calibri"/>
              </a:rPr>
              <a:t> — 25–45 jarigen domineren NL padelmarkt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" y="4773168"/>
            <a:ext cx="566928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" y="4809744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A7A4A"/>
                </a:solidFill>
                <a:latin typeface="Calibri"/>
              </a:rPr>
              <a:t>→  </a:t>
            </a:r>
            <a:r>
              <a:rPr sz="900" b="1">
                <a:solidFill>
                  <a:srgbClr val="0F1923"/>
                </a:solidFill>
                <a:latin typeface="Calibri"/>
              </a:rPr>
              <a:t>First mover</a:t>
            </a:r>
            <a:r>
              <a:rPr sz="900" b="0">
                <a:solidFill>
                  <a:srgbClr val="374151"/>
                </a:solidFill>
                <a:latin typeface="Calibri"/>
              </a:rPr>
              <a:t> in Noordwijk/Katwijk — community lock-in vóór concurrentie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7784" y="5056632"/>
            <a:ext cx="566928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7784" y="5093208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A7A4A"/>
                </a:solidFill>
                <a:latin typeface="Calibri"/>
              </a:rPr>
              <a:t>→  </a:t>
            </a:r>
            <a:r>
              <a:rPr sz="900" b="1">
                <a:solidFill>
                  <a:srgbClr val="0F1923"/>
                </a:solidFill>
                <a:latin typeface="Calibri"/>
              </a:rPr>
              <a:t>Eigen grond</a:t>
            </a:r>
            <a:r>
              <a:rPr sz="900" b="0">
                <a:solidFill>
                  <a:srgbClr val="374151"/>
                </a:solidFill>
                <a:latin typeface="Calibri"/>
              </a:rPr>
              <a:t> = cashflow én vermogensopbouw op de lange termijn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" y="5340096"/>
            <a:ext cx="5669280" cy="63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46520" y="1883664"/>
            <a:ext cx="82296" cy="109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74536" y="182880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4A"/>
                </a:solidFill>
                <a:latin typeface="Calibri"/>
              </a:rPr>
              <a:t>NATIONALE GROEI – PADEL NL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46520" y="2084832"/>
            <a:ext cx="1648968" cy="868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01384" y="2157984"/>
            <a:ext cx="153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A4A"/>
                </a:solidFill>
                <a:latin typeface="Calibri"/>
              </a:rPr>
              <a:t>+25%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01384" y="2560320"/>
            <a:ext cx="153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Nieuwe banen
in 2025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68640" y="2084832"/>
            <a:ext cx="1648968" cy="868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3504" y="2157984"/>
            <a:ext cx="153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A4A"/>
                </a:solidFill>
                <a:latin typeface="Calibri"/>
              </a:rPr>
              <a:t>+23%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3504" y="2560320"/>
            <a:ext cx="153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Comm. centra
groei 2024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90760" y="2084832"/>
            <a:ext cx="1648968" cy="868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45624" y="2157984"/>
            <a:ext cx="153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A4A"/>
                </a:solidFill>
                <a:latin typeface="Calibri"/>
              </a:rPr>
              <a:t>~6.370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45624" y="2560320"/>
            <a:ext cx="153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Inwoners per
baan NL-gem.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46520" y="3072384"/>
            <a:ext cx="5349240" cy="877824"/>
          </a:xfrm>
          <a:prstGeom prst="rect">
            <a:avLst/>
          </a:prstGeom>
          <a:solidFill>
            <a:srgbClr val="D1FAE5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56248" y="3145536"/>
            <a:ext cx="51297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4A"/>
                </a:solidFill>
                <a:latin typeface="Calibri"/>
              </a:rPr>
              <a:t>VOORBIJ DE HYPE – EY/KNLTB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56248" y="3346704"/>
            <a:ext cx="5129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"Padel is geen hype meer — het is een volwassen sport." Vraag blijft aanbod overtreffen. Gevestigde indoor centra realiseren gemiddeld 60% bezettingsgraad; piektijden (avond/weekend) zijn structureel volgeboekt.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46520" y="4032504"/>
            <a:ext cx="5349240" cy="1170432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56248" y="4105656"/>
            <a:ext cx="51297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2400E"/>
                </a:solidFill>
                <a:latin typeface="Calibri"/>
              </a:rPr>
              <a:t>⚡ MARKTGAP KUSTZONE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56248" y="4306824"/>
            <a:ext cx="51297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2400E"/>
                </a:solidFill>
                <a:latin typeface="Calibri"/>
              </a:rPr>
              <a:t>NL gemiddeld: 1 padelbaan per ~6.370 inwoners. Regio totaal: 1 per ~9.250 — al ondervoorzien.
Kritischer: Terwegen (8 indoor banen) ligt in Sassenheim, gericht op de Leiden-corridor. Kustgemeenten Noordwijk + Katwijk (113.000 inwoners) hebben slechts 4 eigen indoor banen — 1 per 28.000 inwoners. Dat is het gat.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46520" y="5285232"/>
            <a:ext cx="5349240" cy="868680"/>
          </a:xfrm>
          <a:prstGeom prst="rect">
            <a:avLst/>
          </a:prstGeom>
          <a:solidFill>
            <a:srgbClr val="0F1923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56248" y="5358384"/>
            <a:ext cx="51297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DE80"/>
                </a:solidFill>
                <a:latin typeface="Calibri"/>
              </a:rPr>
              <a:t>CONCEPT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56248" y="5559552"/>
            <a:ext cx="512978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1D5DB"/>
                </a:solidFill>
                <a:latin typeface="Calibri"/>
              </a:rPr>
              <a:t>Hal ~2.000–2.500 m² op eigen grond (€300K). Zes indoor banen, vaste prijs €30/uur. Horeca, shop, events. Community-first: leagues, clinics, bedrijfsabonnementen voor stabiele basisbezetting.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VERTROUWELIJK  ·  Indoor Padelcentrum Noordwijk  ·  Investering Case April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08792" y="660196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7280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Concurrentieanalyse: Één Indoor Concurrent Binnen 10 km — 4 Banen, Structureel Vol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3504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Enige full-size indoor padelhal in Noordwijk ontbreekt; Vinkenveld kent wachttijden; Terwegen bedient Leiden-corridor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78992"/>
          <a:ext cx="11365992" cy="266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325880"/>
                <a:gridCol w="640080"/>
                <a:gridCol w="960120"/>
                <a:gridCol w="5422392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Locatie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Banen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Afstand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Positie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3864"/>
                          </a:solidFill>
                          <a:latin typeface="Calibri"/>
                        </a:rPr>
                        <a:t>Terwegen Indoor Padel · Sassenheim</a:t>
                      </a:r>
                    </a:p>
                  </a:txBody>
                  <a:tcPr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37415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~14 km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9FA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Padel Middelmorst · Rijnsburg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~8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Katwijkse LTV (KLTV) · Katwijk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~10 km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9FA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F3864"/>
                          </a:solidFill>
                          <a:latin typeface="Calibri"/>
                        </a:rPr>
                        <a:t>Tennishal Vinkenveld · Noordwijk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37415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~2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T.V. De Boekhorst · Noordwijkerhout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~6 km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9FA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★ Nieuw centrum Noordwijk (dit project)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538728" y="1458468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00" b="1">
                <a:solidFill>
                  <a:srgbClr val="1E40AF"/>
                </a:solidFill>
                <a:latin typeface="Calibri"/>
              </a:rPr>
              <a:t>Indoor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458468"/>
            <a:ext cx="1828800" cy="237744"/>
          </a:xfrm>
          <a:prstGeom prst="roundRect">
            <a:avLst>
              <a:gd name="adj" fmla="val 45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00" b="1">
                <a:solidFill>
                  <a:srgbClr val="991B1B"/>
                </a:solidFill>
                <a:latin typeface="Calibri"/>
              </a:rPr>
              <a:t>Grootste concurrent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463040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Gevestigd; Sassenheim (Leiden-corridor) — 14 km van Noordwijk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1851660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00" b="1">
                <a:solidFill>
                  <a:srgbClr val="1E40AF"/>
                </a:solidFill>
                <a:latin typeface="Calibri"/>
              </a:rPr>
              <a:t>Indoor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851660"/>
            <a:ext cx="1828800" cy="237744"/>
          </a:xfrm>
          <a:prstGeom prst="roundRect">
            <a:avLst>
              <a:gd name="adj" fmla="val 45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00" b="1">
                <a:solidFill>
                  <a:srgbClr val="6B7280"/>
                </a:solidFill>
                <a:latin typeface="Calibri"/>
              </a:rPr>
              <a:t>Indoor; beperkt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856232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4 banen; beperkte capaciteit, spill-over naar dit 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2244852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00" b="1">
                <a:solidFill>
                  <a:srgbClr val="92400E"/>
                </a:solidFill>
                <a:latin typeface="Calibri"/>
              </a:rPr>
              <a:t>Outdoor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244852"/>
            <a:ext cx="1828800" cy="237744"/>
          </a:xfrm>
          <a:prstGeom prst="roundRect">
            <a:avLst>
              <a:gd name="adj" fmla="val 4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00" b="1">
                <a:solidFill>
                  <a:srgbClr val="92400E"/>
                </a:solidFill>
                <a:latin typeface="Calibri"/>
              </a:rPr>
              <a:t>Seizoensgebonden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49424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Geen indoor alternatief; directe product upgrade door indoor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38728" y="2638044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00" b="1">
                <a:solidFill>
                  <a:srgbClr val="1E40AF"/>
                </a:solidFill>
                <a:latin typeface="Calibri"/>
              </a:rPr>
              <a:t>Indoor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638044"/>
            <a:ext cx="1828800" cy="237744"/>
          </a:xfrm>
          <a:prstGeom prst="roundRect">
            <a:avLst>
              <a:gd name="adj" fmla="val 45000"/>
            </a:avLst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00" b="1">
                <a:solidFill>
                  <a:srgbClr val="92400E"/>
                </a:solidFill>
                <a:latin typeface="Calibri"/>
              </a:rPr>
              <a:t>Vol / wachttijden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42616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Dichtstbijzijnd indoor; structureel volgeboekt — vraag bewezen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38728" y="3031236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00" b="1">
                <a:solidFill>
                  <a:srgbClr val="92400E"/>
                </a:solidFill>
                <a:latin typeface="Calibri"/>
              </a:rPr>
              <a:t>Outdoor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031236"/>
            <a:ext cx="1828800" cy="237744"/>
          </a:xfrm>
          <a:prstGeom prst="roundRect">
            <a:avLst>
              <a:gd name="adj" fmla="val 4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00" b="1">
                <a:solidFill>
                  <a:srgbClr val="92400E"/>
                </a:solidFill>
                <a:latin typeface="Calibri"/>
              </a:rPr>
              <a:t>Seizoensgebonden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035808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Calibri"/>
              </a:rPr>
              <a:t>Geen indoor alternatief; directe product upgrade door indoor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8728" y="3424428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Indoor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424428"/>
            <a:ext cx="1828800" cy="237744"/>
          </a:xfrm>
          <a:prstGeom prst="roundRect">
            <a:avLst>
              <a:gd name="adj" fmla="val 45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00" b="1">
                <a:solidFill>
                  <a:srgbClr val="065F46"/>
                </a:solidFill>
                <a:latin typeface="Calibri"/>
              </a:rPr>
              <a:t>Dit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429000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Enige full-size indoor padelhal in Noordwijk — nieuwbouw, 6 banen, F&amp;B, events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831336"/>
            <a:ext cx="11365992" cy="969264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3904488"/>
            <a:ext cx="11146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2400E"/>
                </a:solidFill>
                <a:latin typeface="Calibri"/>
              </a:rPr>
              <a:t>⚡ MARKTGAP – NL GEMIDDELD 1 BAAN PER ~6.370 INWONERS · REGIO 1 PER ~9.250 · KUSTZONE 1 PER 28.000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" y="4105656"/>
            <a:ext cx="11146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2400E"/>
                </a:solidFill>
                <a:latin typeface="Calibri"/>
              </a:rPr>
              <a:t>NL gemiddeld: 1 padelbaan per ~6.370 inwoners. Regio totaal (incl. outdoor): 1 per ~9.250 — al ondervoorzien. Kritischer: Terwegen (8 indoor banen) ligt in Sassenheim, primair gericht op de Leiden-corridor. De kustgemeenten Noordwijk + Katwijk (113.000 inwoners) hebben slechts 4 eigen indoor banen — 1 per 28.000 inwoners. Een nieuw centrum in Noordwijk pakt de lokale vraag af die nu naar Sassenheim lekt of afhaakt.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882896"/>
            <a:ext cx="11365992" cy="731520"/>
          </a:xfrm>
          <a:prstGeom prst="rect">
            <a:avLst/>
          </a:prstGeom>
          <a:solidFill>
            <a:srgbClr val="D1FAE5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4956048"/>
            <a:ext cx="11146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4A"/>
                </a:solidFill>
                <a:latin typeface="Calibri"/>
              </a:rPr>
              <a:t>CONCURRENTIEANALYSE TERWEGEN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" y="5157216"/>
            <a:ext cx="111465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Terwegen is gevestigd en succesvol, maar: 15–20 min rijden vanuit Noordwijk/Katwijk. Spelers in de kustgemeenten kiezen voor het dichtstbijzijnde kwalitatieve alternatief. Een centrum ín Noordwijk pakt de lokale vraag af en bouwt eigen community — moeilijk te kopiëren zodra vaste slots en leagues actief zijn.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VERTROUWELIJK  ·  Indoor Padelcentrum Noordwijk  ·  Investering Case April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08792" y="660196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7280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Investering &amp; Financieel Model: Payback 3–4 Jaar, EBITDA ~€480K (Realistisch)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3504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6 banen × 16u/dag × 365d = 35.040 capaciteitsuren/jaar @ €30/u  ·  NL indoor gem. bezetting 60% (EY/KNLTB 2024)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08192" y="1078992"/>
            <a:ext cx="12700" cy="55046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33856"/>
            <a:ext cx="82296" cy="109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107899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4A"/>
                </a:solidFill>
                <a:latin typeface="Calibri"/>
              </a:rPr>
              <a:t>INVESTERING (CAPEX)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325880"/>
          <a:ext cx="539496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1051560"/>
                <a:gridCol w="1188720"/>
              </a:tblGrid>
              <a:tr h="27635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Laag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Hoog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27635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374151"/>
                          </a:solidFill>
                          <a:latin typeface="Calibri"/>
                        </a:rPr>
                        <a:t>Grondaankoop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0">
                          <a:solidFill>
                            <a:srgbClr val="374151"/>
                          </a:solidFill>
                          <a:latin typeface="Calibri"/>
                        </a:rPr>
                        <a:t>€ 300.000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0">
                          <a:solidFill>
                            <a:srgbClr val="374151"/>
                          </a:solidFill>
                          <a:latin typeface="Calibri"/>
                        </a:rPr>
                        <a:t>€ 300.000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7635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374151"/>
                          </a:solidFill>
                          <a:latin typeface="Calibri"/>
                        </a:rPr>
                        <a:t>6 banen (constructie, glas, vloer, gras)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0">
                          <a:solidFill>
                            <a:srgbClr val="374151"/>
                          </a:solidFill>
                          <a:latin typeface="Calibri"/>
                        </a:rPr>
                        <a:t>€ 210.000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0">
                          <a:solidFill>
                            <a:srgbClr val="374151"/>
                          </a:solidFill>
                          <a:latin typeface="Calibri"/>
                        </a:rPr>
                        <a:t>€ 300.000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35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F3864"/>
                          </a:solidFill>
                          <a:latin typeface="Calibri"/>
                        </a:rPr>
                        <a:t>Indoor hal / staalconstructie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0">
                          <a:solidFill>
                            <a:srgbClr val="1F3864"/>
                          </a:solidFill>
                          <a:latin typeface="Calibri"/>
                        </a:rPr>
                        <a:t>€ 800.000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0">
                          <a:solidFill>
                            <a:srgbClr val="1F3864"/>
                          </a:solidFill>
                          <a:latin typeface="Calibri"/>
                        </a:rPr>
                        <a:t>€ 1.200.000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7635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374151"/>
                          </a:solidFill>
                          <a:latin typeface="Calibri"/>
                        </a:rPr>
                        <a:t>Verlichting (LED)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0">
                          <a:solidFill>
                            <a:srgbClr val="374151"/>
                          </a:solidFill>
                          <a:latin typeface="Calibri"/>
                        </a:rPr>
                        <a:t>€ 30.000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0">
                          <a:solidFill>
                            <a:srgbClr val="374151"/>
                          </a:solidFill>
                          <a:latin typeface="Calibri"/>
                        </a:rPr>
                        <a:t>€ 60.000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35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374151"/>
                          </a:solidFill>
                          <a:latin typeface="Calibri"/>
                        </a:rPr>
                        <a:t>Kleedkamers &amp; douches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0">
                          <a:solidFill>
                            <a:srgbClr val="374151"/>
                          </a:solidFill>
                          <a:latin typeface="Calibri"/>
                        </a:rPr>
                        <a:t>€ 50.000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0">
                          <a:solidFill>
                            <a:srgbClr val="374151"/>
                          </a:solidFill>
                          <a:latin typeface="Calibri"/>
                        </a:rPr>
                        <a:t>€ 150.000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7635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374151"/>
                          </a:solidFill>
                          <a:latin typeface="Calibri"/>
                        </a:rPr>
                        <a:t>Horeca-inrichting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0">
                          <a:solidFill>
                            <a:srgbClr val="374151"/>
                          </a:solidFill>
                          <a:latin typeface="Calibri"/>
                        </a:rPr>
                        <a:t>€ 30.000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0">
                          <a:solidFill>
                            <a:srgbClr val="374151"/>
                          </a:solidFill>
                          <a:latin typeface="Calibri"/>
                        </a:rPr>
                        <a:t>€ 100.000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352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374151"/>
                          </a:solidFill>
                          <a:latin typeface="Calibri"/>
                        </a:rPr>
                        <a:t>Reserveringssysteem &amp; overig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0">
                          <a:solidFill>
                            <a:srgbClr val="374151"/>
                          </a:solidFill>
                          <a:latin typeface="Calibri"/>
                        </a:rPr>
                        <a:t>€ 5.000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0">
                          <a:solidFill>
                            <a:srgbClr val="374151"/>
                          </a:solidFill>
                          <a:latin typeface="Calibri"/>
                        </a:rPr>
                        <a:t>€ 15.000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27635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Totale investering (all-in)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i="0">
                          <a:solidFill>
                            <a:srgbClr val="4ADE80"/>
                          </a:solidFill>
                          <a:latin typeface="Calibri"/>
                        </a:rPr>
                        <a:t>€ 1.425.000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 i="0">
                          <a:solidFill>
                            <a:srgbClr val="4ADE80"/>
                          </a:solidFill>
                          <a:latin typeface="Calibri"/>
                        </a:rPr>
                        <a:t>€ 2.125.000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11480" y="3959352"/>
            <a:ext cx="82296" cy="109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390448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4A"/>
                </a:solidFill>
                <a:latin typeface="Calibri"/>
              </a:rPr>
              <a:t>SCENARIO-ANALYSE BAANOMZET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4151376"/>
          <a:ext cx="53949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914400"/>
                <a:gridCol w="1280160"/>
                <a:gridCol w="1600200"/>
              </a:tblGrid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Bezetting</a:t>
                      </a:r>
                    </a:p>
                  </a:txBody>
                  <a:tcPr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Uren verkocht</a:t>
                      </a:r>
                    </a:p>
                  </a:txBody>
                  <a:tcPr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Baanomzet</a:t>
                      </a:r>
                    </a:p>
                  </a:txBody>
                  <a:tcPr>
                    <a:solidFill>
                      <a:srgbClr val="6B7280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Conservatief</a:t>
                      </a:r>
                    </a:p>
                  </a:txBody>
                  <a:tcPr>
                    <a:solidFill>
                      <a:srgbClr val="FEF9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FEF9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15.768</a:t>
                      </a:r>
                    </a:p>
                  </a:txBody>
                  <a:tcPr>
                    <a:solidFill>
                      <a:srgbClr val="FEF9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€ 473.040</a:t>
                      </a:r>
                    </a:p>
                  </a:txBody>
                  <a:tcPr>
                    <a:solidFill>
                      <a:srgbClr val="FEF9F9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F1923"/>
                          </a:solidFill>
                          <a:latin typeface="Calibri"/>
                        </a:rPr>
                        <a:t>Realistisch ✓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0F1923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0F1923"/>
                          </a:solidFill>
                          <a:latin typeface="Calibri"/>
                        </a:rPr>
                        <a:t>21.024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0F1923"/>
                          </a:solidFill>
                          <a:latin typeface="Calibri"/>
                        </a:rPr>
                        <a:t>€ 630.720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Optimistisch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24.528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€ 735.840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66344" y="4466844"/>
            <a:ext cx="1444752" cy="201168"/>
          </a:xfrm>
          <a:prstGeom prst="roundRect">
            <a:avLst>
              <a:gd name="adj" fmla="val 45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750" b="1">
                <a:solidFill>
                  <a:srgbClr val="991B1B"/>
                </a:solidFill>
                <a:latin typeface="Calibri"/>
              </a:rPr>
              <a:t>Conservatief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" y="4745736"/>
            <a:ext cx="1444752" cy="201168"/>
          </a:xfrm>
          <a:prstGeom prst="roundRect">
            <a:avLst>
              <a:gd name="adj" fmla="val 45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750" b="1">
                <a:solidFill>
                  <a:srgbClr val="065F46"/>
                </a:solidFill>
                <a:latin typeface="Calibri"/>
              </a:rPr>
              <a:t>Realistisch 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" y="5024628"/>
            <a:ext cx="1444752" cy="201168"/>
          </a:xfrm>
          <a:prstGeom prst="roundRect">
            <a:avLst>
              <a:gd name="adj" fmla="val 4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750" b="1">
                <a:solidFill>
                  <a:srgbClr val="1E40AF"/>
                </a:solidFill>
                <a:latin typeface="Calibri"/>
              </a:rPr>
              <a:t>Optimistisch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133856"/>
            <a:ext cx="82296" cy="109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07899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4A"/>
                </a:solidFill>
                <a:latin typeface="Calibri"/>
              </a:rPr>
              <a:t>TOTALE OMZET PER SCENARIO (INCL. EXTRA STROMEN)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91072" y="1325880"/>
          <a:ext cx="56235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914400"/>
                <a:gridCol w="914400"/>
                <a:gridCol w="109728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Baan</a:t>
                      </a:r>
                    </a:p>
                  </a:txBody>
                  <a:tcPr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F&amp;B netto</a:t>
                      </a:r>
                    </a:p>
                  </a:txBody>
                  <a:tcPr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Shop &amp; Events</a:t>
                      </a:r>
                    </a:p>
                  </a:txBody>
                  <a:tcPr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Totaal</a:t>
                      </a:r>
                    </a:p>
                  </a:txBody>
                  <a:tcPr>
                    <a:solidFill>
                      <a:srgbClr val="6B728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FEF9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€ 473K</a:t>
                      </a:r>
                    </a:p>
                  </a:txBody>
                  <a:tcPr>
                    <a:solidFill>
                      <a:srgbClr val="FEF9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€ 83K</a:t>
                      </a:r>
                    </a:p>
                  </a:txBody>
                  <a:tcPr>
                    <a:solidFill>
                      <a:srgbClr val="FEF9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€ 55K</a:t>
                      </a:r>
                    </a:p>
                  </a:txBody>
                  <a:tcPr>
                    <a:solidFill>
                      <a:srgbClr val="FEF9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374151"/>
                          </a:solidFill>
                          <a:latin typeface="Calibri"/>
                        </a:rPr>
                        <a:t>~€ 611K</a:t>
                      </a:r>
                    </a:p>
                  </a:txBody>
                  <a:tcPr>
                    <a:solidFill>
                      <a:srgbClr val="FEF9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0F1923"/>
                          </a:solidFill>
                          <a:latin typeface="Calibri"/>
                        </a:rPr>
                        <a:t>60% ✓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0F1923"/>
                          </a:solidFill>
                          <a:latin typeface="Calibri"/>
                        </a:rPr>
                        <a:t>€ 631K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0F1923"/>
                          </a:solidFill>
                          <a:latin typeface="Calibri"/>
                        </a:rPr>
                        <a:t>€ 113K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0F1923"/>
                          </a:solidFill>
                          <a:latin typeface="Calibri"/>
                        </a:rPr>
                        <a:t>€ 65K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A7A4A"/>
                          </a:solidFill>
                          <a:latin typeface="Calibri"/>
                        </a:rPr>
                        <a:t>~€ 809K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€ 736K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€ 132K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374151"/>
                          </a:solidFill>
                          <a:latin typeface="Calibri"/>
                        </a:rPr>
                        <a:t>€ 75K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374151"/>
                          </a:solidFill>
                          <a:latin typeface="Calibri"/>
                        </a:rPr>
                        <a:t>~€ 943K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345936" y="1627632"/>
            <a:ext cx="694944" cy="182880"/>
          </a:xfrm>
          <a:prstGeom prst="roundRect">
            <a:avLst>
              <a:gd name="adj" fmla="val 45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700" b="1">
                <a:solidFill>
                  <a:srgbClr val="991B1B"/>
                </a:solidFill>
                <a:latin typeface="Calibri"/>
              </a:rPr>
              <a:t>45%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5936" y="1901952"/>
            <a:ext cx="694944" cy="182880"/>
          </a:xfrm>
          <a:prstGeom prst="roundRect">
            <a:avLst>
              <a:gd name="adj" fmla="val 45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700" b="1">
                <a:solidFill>
                  <a:srgbClr val="065F46"/>
                </a:solidFill>
                <a:latin typeface="Calibri"/>
              </a:rPr>
              <a:t>60% 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5936" y="2176272"/>
            <a:ext cx="694944" cy="182880"/>
          </a:xfrm>
          <a:prstGeom prst="roundRect">
            <a:avLst>
              <a:gd name="adj" fmla="val 4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700" b="1">
                <a:solidFill>
                  <a:srgbClr val="1E40AF"/>
                </a:solidFill>
                <a:latin typeface="Calibri"/>
              </a:rPr>
              <a:t>70%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1072" y="2569464"/>
            <a:ext cx="82296" cy="109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51460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4A"/>
                </a:solidFill>
                <a:latin typeface="Calibri"/>
              </a:rPr>
              <a:t>RENDEMENT – REALISTISCH SCENARIO (60%)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2761488"/>
            <a:ext cx="1783080" cy="9875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2834640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A4A"/>
                </a:solidFill>
                <a:latin typeface="Calibri"/>
              </a:rPr>
              <a:t>€ 809K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3310128"/>
            <a:ext cx="1673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Totale omzet
per jaar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9016" y="2761488"/>
            <a:ext cx="1783080" cy="987552"/>
          </a:xfrm>
          <a:prstGeom prst="rect">
            <a:avLst/>
          </a:prstGeom>
          <a:solidFill>
            <a:srgbClr val="1A7A4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834640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~€ 480K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3310128"/>
            <a:ext cx="1673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EBITDA / jaar
(na OpEx ~€330K)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2761488"/>
            <a:ext cx="1783080" cy="98755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21824" y="2834640"/>
            <a:ext cx="16733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A4A"/>
                </a:solidFill>
                <a:latin typeface="Calibri"/>
              </a:rPr>
              <a:t>3–4 jr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1824" y="3310128"/>
            <a:ext cx="1673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Calibri"/>
              </a:rPr>
              <a:t>Payback period
(midpoint inv.)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91072" y="3840480"/>
            <a:ext cx="5623560" cy="731520"/>
          </a:xfrm>
          <a:prstGeom prst="rect">
            <a:avLst/>
          </a:prstGeom>
          <a:solidFill>
            <a:srgbClr val="D1FAE5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913632"/>
            <a:ext cx="5404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7A4A"/>
                </a:solidFill>
                <a:latin typeface="Calibri"/>
              </a:rPr>
              <a:t>DUBBEL RENDEMENT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114800"/>
            <a:ext cx="54041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Eigen grond (~€300K) genereert naast cashflow ook vermogenswaarde. OpEx: energie €70–100K · personeel €120–150K · marketing &amp; overig €40–60K → totaal ~€330K/jaar.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1072" y="4718304"/>
            <a:ext cx="82296" cy="109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466344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4A"/>
                </a:solidFill>
                <a:latin typeface="Calibri"/>
              </a:rPr>
              <a:t>KRITISCHE SUCCESFACTOREN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92040"/>
            <a:ext cx="5458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✓  Bezetting ≥ 60% vanaf maand 6 — launch events + directe bedrijfsabonnementen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138928"/>
            <a:ext cx="5458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✓  Bouwkosten beheersen (€35–50K/baan) — zelf bouwen = 30–40% goedkoper dan turnkey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385816"/>
            <a:ext cx="5458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✓  Community vanaf dag 1 — leagues, clinics, vaste slots → lage churn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632704"/>
            <a:ext cx="5458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✓  Lokale differentiatie vs. Terwegen — dichter bij, eigen identiteit, coastal feel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VERTROUWELIJK  ·  Indoor Padelcentrum Noordwijk  ·  Investering Case April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08792" y="660196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7280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5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Risico's, Kansen &amp; Aanbeveling: Sterk Koopadvies bij Gefaseerde Aanpak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03504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Risico's zijn beheersbaar; structurele vraag, witte marktpositie en asset ownership maken dit een overtuigende kans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78040" y="1078992"/>
            <a:ext cx="12700" cy="55046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33856"/>
            <a:ext cx="82296" cy="109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107899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4A"/>
                </a:solidFill>
                <a:latin typeface="Calibri"/>
              </a:rPr>
              <a:t>RISICO'S &amp; MITIGATIE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54864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" y="1325880"/>
            <a:ext cx="6437376" cy="6583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362456"/>
            <a:ext cx="475488" cy="164592"/>
          </a:xfrm>
          <a:prstGeom prst="roundRect">
            <a:avLst>
              <a:gd name="adj" fmla="val 4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1362456"/>
            <a:ext cx="5742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Hoge CapEx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1581912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Gefaseerd financieren: grond + hal eerst, banen in 2 fases. Bancaire financiering op asset-basis; grond als onderpand. Co-investeerder mogelijk.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039112"/>
            <a:ext cx="54864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" y="2039112"/>
            <a:ext cx="6437376" cy="6583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2075688"/>
            <a:ext cx="475488" cy="164592"/>
          </a:xfrm>
          <a:prstGeom prst="roundRect">
            <a:avLst>
              <a:gd name="adj" fmla="val 4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650" b="1">
                <a:solidFill>
                  <a:srgbClr val="F59E0B"/>
                </a:solidFill>
                <a:latin typeface="Calibri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2075688"/>
            <a:ext cx="5742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Trage opstart (jaar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2295144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Pre-sales vóór opening. Wachtlijst opbouwen via socials. Soft-opening met 3 banen; resterende banen bij volle bezetting eerste batch.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752344"/>
            <a:ext cx="54864" cy="65836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" y="2752344"/>
            <a:ext cx="6437376" cy="6583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2788920"/>
            <a:ext cx="475488" cy="164592"/>
          </a:xfrm>
          <a:prstGeom prst="roundRect">
            <a:avLst>
              <a:gd name="adj" fmla="val 45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650" b="1">
                <a:solidFill>
                  <a:srgbClr val="1A7A4A"/>
                </a:solidFill>
                <a:latin typeface="Calibri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2788920"/>
            <a:ext cx="5742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Energiekosten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3008376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LED-verlichting + zonnepanelen op hal-dak (gedeeltelijk zelfvoorzienend). Energiecontract lang vastleggen bij signing.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65576"/>
            <a:ext cx="54864" cy="65836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" y="3465576"/>
            <a:ext cx="6437376" cy="6583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3502152"/>
            <a:ext cx="475488" cy="164592"/>
          </a:xfrm>
          <a:prstGeom prst="roundRect">
            <a:avLst>
              <a:gd name="adj" fmla="val 45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650" b="1">
                <a:solidFill>
                  <a:srgbClr val="1A7A4A"/>
                </a:solidFill>
                <a:latin typeface="Calibri"/>
              </a:rPr>
              <a:t>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" y="3502152"/>
            <a:ext cx="5742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Terwegen vergroot capaciteit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3721608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Geografisch voordeel (15 min dichter bij Noordwijk/Katwijk) blijft bestaan. Community lock-in en lokale identiteit zijn niet kopieerbaar.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178808"/>
            <a:ext cx="54864" cy="65836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" y="4178808"/>
            <a:ext cx="6437376" cy="6583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4215384"/>
            <a:ext cx="475488" cy="164592"/>
          </a:xfrm>
          <a:prstGeom prst="roundRect">
            <a:avLst>
              <a:gd name="adj" fmla="val 45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650" b="1">
                <a:solidFill>
                  <a:srgbClr val="1A7A4A"/>
                </a:solidFill>
                <a:latin typeface="Calibri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" y="4215384"/>
            <a:ext cx="57424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Vergunningvertraging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4434840"/>
            <a:ext cx="5742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4151"/>
                </a:solidFill>
                <a:latin typeface="Calibri"/>
              </a:rPr>
              <a:t>Vroege pre-consultatie met Gemeente Noordwijk. Ervaren lokale vergunningsadviseur inschakelen. Sport &amp; Recreatie-bestemming doorgaans haalbaar.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1133856"/>
            <a:ext cx="82296" cy="1097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88936" y="107899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7A4A"/>
                </a:solidFill>
                <a:latin typeface="Calibri"/>
              </a:rPr>
              <a:t>KANSEN &amp; UPSIDE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1325880"/>
            <a:ext cx="4553712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0648" y="1380744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Bedrijfsabonnementen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0648" y="16002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</a:rPr>
              <a:t>Vaste wekelijkse slots voor lokale bedrijven → stabiele basisbezetting, lage no-show, hoge CLTV.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60920" y="2103120"/>
            <a:ext cx="4553712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70648" y="2157984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Toerisme-spike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0648" y="23774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</a:rPr>
              <a:t>Keukenhof (~1,5M bezoekers in het voorjaar) + horecasector Noordwijk → extra ad-hoc vraag.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60920" y="2880360"/>
            <a:ext cx="4553712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0648" y="2935224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Faseerbaarheid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0648" y="315468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</a:rPr>
              <a:t>4 banen operationeel vóór opening (revenue start), banen 5–6 na vroege ramp-up → verlaagt financieringsrisico.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60920" y="3657600"/>
            <a:ext cx="4553712" cy="7132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0648" y="3712464"/>
            <a:ext cx="4389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  <a:latin typeface="Calibri"/>
              </a:rPr>
              <a:t>Exit-flexibiliteit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0648" y="39319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alibri"/>
              </a:rPr>
              <a:t>Operate (EBITDA cashflow), verhuur aan operator, of asset-sale na stabilisatie — drie uitwegen.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60920" y="4489704"/>
            <a:ext cx="4553712" cy="16459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4581144"/>
            <a:ext cx="42793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DE80"/>
                </a:solidFill>
                <a:latin typeface="Calibri"/>
              </a:rPr>
              <a:t>AANBEVELING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0" y="4818888"/>
            <a:ext cx="427939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1D5DB"/>
                </a:solidFill>
                <a:latin typeface="Calibri"/>
              </a:rPr>
              <a:t>Ga verder met grondaankoop en ontwikkeling (Model 1). Pre-consultatie Gemeente Noordwijk direct starten. Padelbaan-aannemer aanstellen Q3 2026. Bedrijfsslots pre-sellen 6 maanden vóór opening. Target opening Q2/Q3 2027.
Bij 60% bezetting: omzet ~€809K, EBITDA ~€480K, payback 3–4 jaar. De grond vormt een permanente asset-vloer van €300K.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80" y="5788152"/>
            <a:ext cx="1280160" cy="256032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00" rIns="381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★★★★★  STRONG BUY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VERTROUWELIJK  ·  Indoor Padelcentrum Noordwijk  ·  Investering Case April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08792" y="660196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7280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